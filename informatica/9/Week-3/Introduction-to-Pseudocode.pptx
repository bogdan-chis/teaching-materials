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95448" y="-2286000"/>
            <a:ext cx="6400800" cy="4572000"/>
          </a:xfrm>
          <a:prstGeom prst="ellipse">
            <a:avLst/>
          </a:prstGeom>
          <a:solidFill>
            <a:srgbClr val="4FB6F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267048" y="4114800"/>
            <a:ext cx="4114800" cy="3200400"/>
          </a:xfrm>
          <a:prstGeom prst="ellipse">
            <a:avLst/>
          </a:prstGeom>
          <a:solidFill>
            <a:srgbClr val="F6C453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</a:t>
            </a:r>
            <a:pPr algn="ctr" indent="0" marL="0">
              <a:buNone/>
            </a:pPr>
            <a:r>
              <a:rPr lang="en-US" sz="46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Pseudocode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4FB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Science Basics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</a:t>
            </a:r>
            <a:pPr algn="l" indent="0" marL="0">
              <a:buNone/>
            </a:pPr>
            <a:r>
              <a:rPr lang="en-US" sz="3200" b="1" dirty="0">
                <a:solidFill>
                  <a:srgbClr val="4FB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Pseudocode?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6126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Pseudocode is a language used to describe the steps of an algorithm.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borrows structures from real programming languages (Pascal, C/C++, BASIC, etc.), but it is meant to be read by people, not executed by computers.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details are usually left out — such as variable declarations or language-specific syntax.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Pseudocode can mix plain natural-language phrases with compact mathematical expressions that don't exist in real programming languages.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06640" y="1828800"/>
            <a:ext cx="3977640" cy="4297680"/>
          </a:xfrm>
          <a:prstGeom prst="roundRect">
            <a:avLst>
              <a:gd name="adj" fmla="val 2759"/>
            </a:avLst>
          </a:prstGeom>
          <a:solidFill>
            <a:srgbClr val="141F32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02168" y="2587752"/>
            <a:ext cx="2386584" cy="621792"/>
          </a:xfrm>
          <a:prstGeom prst="roundRect">
            <a:avLst>
              <a:gd name="adj" fmla="val 11765"/>
            </a:avLst>
          </a:prstGeom>
          <a:solidFill>
            <a:srgbClr val="1B2A46"/>
          </a:solidFill>
          <a:ln w="19050">
            <a:solidFill>
              <a:srgbClr val="4FB6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02168" y="2587752"/>
            <a:ext cx="2386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395460" y="3209544"/>
            <a:ext cx="0" cy="310896"/>
          </a:xfrm>
          <a:prstGeom prst="line">
            <a:avLst/>
          </a:prstGeom>
          <a:noFill/>
          <a:ln w="19050">
            <a:solidFill>
              <a:srgbClr val="3A4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3062" y="3520440"/>
            <a:ext cx="2704795" cy="914400"/>
          </a:xfrm>
          <a:prstGeom prst="diamond">
            <a:avLst/>
          </a:prstGeom>
          <a:solidFill>
            <a:srgbClr val="241B2E"/>
          </a:solidFill>
          <a:ln w="19050">
            <a:solidFill>
              <a:srgbClr val="F6C45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3062" y="3520440"/>
            <a:ext cx="27047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95460" y="4434840"/>
            <a:ext cx="0" cy="310896"/>
          </a:xfrm>
          <a:prstGeom prst="line">
            <a:avLst/>
          </a:prstGeom>
          <a:noFill/>
          <a:ln w="19050">
            <a:solidFill>
              <a:srgbClr val="3A4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02168" y="4745736"/>
            <a:ext cx="2386584" cy="621792"/>
          </a:xfrm>
          <a:prstGeom prst="roundRect">
            <a:avLst>
              <a:gd name="adj" fmla="val 11765"/>
            </a:avLst>
          </a:prstGeom>
          <a:solidFill>
            <a:srgbClr val="142A22"/>
          </a:solidFill>
          <a:ln w="19050">
            <a:solidFill>
              <a:srgbClr val="27C9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02168" y="4745736"/>
            <a:ext cx="2386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Pseudocode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</a:t>
            </a:r>
            <a:pPr algn="l" indent="0" marL="0">
              <a:buNone/>
            </a:pPr>
            <a:r>
              <a:rPr lang="en-US" sz="32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concepts found in pseudocode algorithms are similar to those in real programming languages: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1993392" cy="1737360"/>
          </a:xfrm>
          <a:prstGeom prst="roundRect">
            <a:avLst>
              <a:gd name="adj" fmla="val 5263"/>
            </a:avLst>
          </a:prstGeom>
          <a:solidFill>
            <a:srgbClr val="141F32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63624" y="2834640"/>
            <a:ext cx="512064" cy="512064"/>
          </a:xfrm>
          <a:prstGeom prst="ellipse">
            <a:avLst/>
          </a:prstGeom>
          <a:solidFill>
            <a:srgbClr val="1B2A46"/>
          </a:solidFill>
          <a:ln w="19050">
            <a:solidFill>
              <a:srgbClr val="F6C45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63624" y="2834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2044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017520" y="2514600"/>
            <a:ext cx="1993392" cy="1737360"/>
          </a:xfrm>
          <a:prstGeom prst="roundRect">
            <a:avLst>
              <a:gd name="adj" fmla="val 5263"/>
            </a:avLst>
          </a:prstGeom>
          <a:solidFill>
            <a:srgbClr val="141F32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58184" y="2834640"/>
            <a:ext cx="512064" cy="512064"/>
          </a:xfrm>
          <a:prstGeom prst="ellipse">
            <a:avLst/>
          </a:prstGeom>
          <a:solidFill>
            <a:srgbClr val="1B2A46"/>
          </a:solidFill>
          <a:ln w="19050">
            <a:solidFill>
              <a:srgbClr val="F6C45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58184" y="2834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352044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212080" y="2514600"/>
            <a:ext cx="1993392" cy="1737360"/>
          </a:xfrm>
          <a:prstGeom prst="roundRect">
            <a:avLst>
              <a:gd name="adj" fmla="val 5263"/>
            </a:avLst>
          </a:prstGeom>
          <a:solidFill>
            <a:srgbClr val="141F32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52744" y="2834640"/>
            <a:ext cx="512064" cy="512064"/>
          </a:xfrm>
          <a:prstGeom prst="ellipse">
            <a:avLst/>
          </a:prstGeom>
          <a:solidFill>
            <a:srgbClr val="1B2A46"/>
          </a:solidFill>
          <a:ln w="19050">
            <a:solidFill>
              <a:srgbClr val="F6C45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52744" y="2834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352044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406640" y="2514600"/>
            <a:ext cx="1993392" cy="1737360"/>
          </a:xfrm>
          <a:prstGeom prst="roundRect">
            <a:avLst>
              <a:gd name="adj" fmla="val 5263"/>
            </a:avLst>
          </a:prstGeom>
          <a:solidFill>
            <a:srgbClr val="141F32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47304" y="2834640"/>
            <a:ext cx="512064" cy="512064"/>
          </a:xfrm>
          <a:prstGeom prst="ellipse">
            <a:avLst/>
          </a:prstGeom>
          <a:solidFill>
            <a:srgbClr val="1B2A46"/>
          </a:solidFill>
          <a:ln w="19050">
            <a:solidFill>
              <a:srgbClr val="F6C45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47304" y="2834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352044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601200" y="2514600"/>
            <a:ext cx="1993392" cy="1737360"/>
          </a:xfrm>
          <a:prstGeom prst="roundRect">
            <a:avLst>
              <a:gd name="adj" fmla="val 5263"/>
            </a:avLst>
          </a:prstGeom>
          <a:solidFill>
            <a:srgbClr val="141F32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341864" y="2834640"/>
            <a:ext cx="512064" cy="512064"/>
          </a:xfrm>
          <a:prstGeom prst="ellipse">
            <a:avLst/>
          </a:prstGeom>
          <a:solidFill>
            <a:srgbClr val="1B2A46"/>
          </a:solidFill>
          <a:ln w="19050">
            <a:solidFill>
              <a:srgbClr val="F6C45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341864" y="2834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692640" y="352044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22960" y="4663440"/>
            <a:ext cx="10543032" cy="1417320"/>
          </a:xfrm>
          <a:prstGeom prst="roundRect">
            <a:avLst>
              <a:gd name="adj" fmla="val 6452"/>
            </a:avLst>
          </a:prstGeom>
          <a:solidFill>
            <a:srgbClr val="141F32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78992" y="4864608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variants of pseudocode exist.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uses the variant found in Romanian Computer Science Baccalaureate exam problems — the same one taught in high-school algorithm courses.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Pseudocode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B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BLOCKS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&amp; </a:t>
            </a:r>
            <a:pPr algn="l" indent="0" marL="0">
              <a:buNone/>
            </a:pPr>
            <a:r>
              <a:rPr lang="en-US" sz="32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are never declared.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names follow the usual identifier rules: letters, digits, and the underscore character — and a name can never start with a digit.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Constants are literal values: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integers and reals, characters delimited with a single quote ( ' ), and strings delimited with single ( ' ) or double ( " ) quotes.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constants, such as π, may also appear directly in expressions.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06640" y="1965960"/>
            <a:ext cx="3977640" cy="2834640"/>
          </a:xfrm>
          <a:prstGeom prst="roundRect">
            <a:avLst>
              <a:gd name="adj" fmla="val 2903"/>
            </a:avLst>
          </a:prstGeom>
          <a:solidFill>
            <a:srgbClr val="0E1626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06640" y="2350008"/>
            <a:ext cx="3977640" cy="0"/>
          </a:xfrm>
          <a:prstGeom prst="line">
            <a:avLst/>
          </a:prstGeom>
          <a:noFill/>
          <a:ln w="12700">
            <a:solidFill>
              <a:srgbClr val="1F2C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07808" y="2121408"/>
            <a:ext cx="137160" cy="137160"/>
          </a:xfrm>
          <a:prstGeom prst="ellipse">
            <a:avLst/>
          </a:prstGeom>
          <a:solidFill>
            <a:srgbClr val="F1605A"/>
          </a:solidFill>
          <a:ln/>
        </p:spPr>
      </p:sp>
      <p:sp>
        <p:nvSpPr>
          <p:cNvPr id="8" name="Shape 6"/>
          <p:cNvSpPr/>
          <p:nvPr/>
        </p:nvSpPr>
        <p:spPr>
          <a:xfrm>
            <a:off x="7808976" y="2121408"/>
            <a:ext cx="137160" cy="137160"/>
          </a:xfrm>
          <a:prstGeom prst="ellipse">
            <a:avLst/>
          </a:prstGeom>
          <a:solidFill>
            <a:srgbClr val="FEC029"/>
          </a:solidFill>
          <a:ln/>
        </p:spPr>
      </p:sp>
      <p:sp>
        <p:nvSpPr>
          <p:cNvPr id="9" name="Shape 7"/>
          <p:cNvSpPr/>
          <p:nvPr/>
        </p:nvSpPr>
        <p:spPr>
          <a:xfrm>
            <a:off x="8010144" y="212140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62672" y="2496312"/>
            <a:ext cx="346557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examples</a:t>
            </a:r>
            <a:endParaRPr lang="en-US" sz="14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15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7EC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integer</a:t>
            </a:r>
            <a:endParaRPr lang="en-US" sz="14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gpa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3.85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7EC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real</a:t>
            </a:r>
            <a:endParaRPr lang="en-US" sz="14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'Alex'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7EC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string</a:t>
            </a:r>
            <a:endParaRPr lang="en-US" sz="14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'A'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7EC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character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Pseudocode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B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BLOCKS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</a:t>
            </a:r>
            <a:pPr algn="l" indent="0" marL="0">
              <a:buNone/>
            </a:pPr>
            <a:r>
              <a:rPr lang="en-US" sz="32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166360" cy="4434840"/>
          </a:xfrm>
          <a:prstGeom prst="roundRect">
            <a:avLst>
              <a:gd name="adj" fmla="val 1856"/>
            </a:avLst>
          </a:prstGeom>
          <a:solidFill>
            <a:srgbClr val="141F32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8992" y="1984248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 Operations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078992" y="2404872"/>
            <a:ext cx="4654296" cy="0"/>
          </a:xfrm>
          <a:prstGeom prst="line">
            <a:avLst/>
          </a:prstGeom>
          <a:noFill/>
          <a:ln w="12700">
            <a:solidFill>
              <a:srgbClr val="2231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78992" y="2560320"/>
            <a:ext cx="465429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Addition: a + b — integer or real, depending on context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Subtraction: a - b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Multiplication: a * b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Division: a / b — always real; for the integer quotient use the floor: [a/b]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Remainder: a % b — integer operands only, integer result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variants use DIV and MOD instead. Exponentiation and square root may also appear.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99632" y="1783080"/>
            <a:ext cx="5166360" cy="4434840"/>
          </a:xfrm>
          <a:prstGeom prst="roundRect">
            <a:avLst>
              <a:gd name="adj" fmla="val 1856"/>
            </a:avLst>
          </a:prstGeom>
          <a:solidFill>
            <a:srgbClr val="141F32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55664" y="1984248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B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&amp; Logical Operations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55664" y="2404872"/>
            <a:ext cx="4654296" cy="0"/>
          </a:xfrm>
          <a:prstGeom prst="line">
            <a:avLst/>
          </a:prstGeom>
          <a:noFill/>
          <a:ln w="12700">
            <a:solidFill>
              <a:srgbClr val="2231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55664" y="2560320"/>
            <a:ext cx="465429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Relational: =, ≠, &lt;, ≤, &gt;, ≥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Operands are usually numbers; the result is a boolean value (true or false).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operations: NOT, AND, OR — combine or invert boolean values.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Pseudocode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B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BLOCKS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Instructions: </a:t>
            </a:r>
            <a:pPr algn="l" indent="0" marL="0">
              <a:buNone/>
            </a:pPr>
            <a:r>
              <a:rPr lang="en-US" sz="32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Basics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6126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are the parts of an algorithm that actually have an effect — they change variable values, read or display data, repeat actions, and so on.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each instruction is written on its own line (or several, for complex ones).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save space, two or more simple instructions can share a line, separated by ;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algorithm can be built from three kinds of structure: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linear, alternative (decision), and repetitive — with the repetitive structure appearing in four forms, covered later in this deck.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06640" y="1874520"/>
            <a:ext cx="3977640" cy="4206240"/>
          </a:xfrm>
          <a:prstGeom prst="roundRect">
            <a:avLst>
              <a:gd name="adj" fmla="val 2759"/>
            </a:avLst>
          </a:prstGeom>
          <a:solidFill>
            <a:srgbClr val="141F32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02168" y="2587752"/>
            <a:ext cx="2386584" cy="621792"/>
          </a:xfrm>
          <a:prstGeom prst="roundRect">
            <a:avLst>
              <a:gd name="adj" fmla="val 11765"/>
            </a:avLst>
          </a:prstGeom>
          <a:solidFill>
            <a:srgbClr val="1B2A46"/>
          </a:solidFill>
          <a:ln w="19050">
            <a:solidFill>
              <a:srgbClr val="4FB6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02168" y="2587752"/>
            <a:ext cx="2386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395460" y="3209544"/>
            <a:ext cx="0" cy="310896"/>
          </a:xfrm>
          <a:prstGeom prst="line">
            <a:avLst/>
          </a:prstGeom>
          <a:noFill/>
          <a:ln w="19050">
            <a:solidFill>
              <a:srgbClr val="3A4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3062" y="3520440"/>
            <a:ext cx="2704795" cy="914400"/>
          </a:xfrm>
          <a:prstGeom prst="diamond">
            <a:avLst/>
          </a:prstGeom>
          <a:solidFill>
            <a:srgbClr val="241B2E"/>
          </a:solidFill>
          <a:ln w="19050">
            <a:solidFill>
              <a:srgbClr val="F6C45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3062" y="3520440"/>
            <a:ext cx="27047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95460" y="4434840"/>
            <a:ext cx="0" cy="310896"/>
          </a:xfrm>
          <a:prstGeom prst="line">
            <a:avLst/>
          </a:prstGeom>
          <a:noFill/>
          <a:ln w="19050">
            <a:solidFill>
              <a:srgbClr val="3A4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02168" y="4745736"/>
            <a:ext cx="2386584" cy="621792"/>
          </a:xfrm>
          <a:prstGeom prst="roundRect">
            <a:avLst>
              <a:gd name="adj" fmla="val 11765"/>
            </a:avLst>
          </a:prstGeom>
          <a:solidFill>
            <a:srgbClr val="142A22"/>
          </a:solidFill>
          <a:ln w="19050">
            <a:solidFill>
              <a:srgbClr val="27C9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02168" y="4745736"/>
            <a:ext cx="2386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Pseudocode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52648" y="1600200"/>
            <a:ext cx="5486400" cy="3657600"/>
          </a:xfrm>
          <a:prstGeom prst="ellipse">
            <a:avLst/>
          </a:prstGeom>
          <a:solidFill>
            <a:srgbClr val="4FB6F0">
              <a:alpha val="1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788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Reading, Writing &amp; Assignment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B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instructions every pseudocode algorithm starts with.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</a:t>
            </a:r>
            <a:pPr algn="l" indent="0" marL="0">
              <a:buNone/>
            </a:pPr>
            <a:r>
              <a:rPr lang="en-US" sz="32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&lt;variable list&gt;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&lt;variable list&gt; is a sequence of variables separated by commas.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Successive values are taken from the keyboard, in order, and stored in the listed variables.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read instruction is usually paired with notes about the expected data — its type, valid range, and so 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06640" y="2194560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0E1626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06640" y="2578608"/>
            <a:ext cx="3977640" cy="0"/>
          </a:xfrm>
          <a:prstGeom prst="line">
            <a:avLst/>
          </a:prstGeom>
          <a:noFill/>
          <a:ln w="12700">
            <a:solidFill>
              <a:srgbClr val="1F2C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07808" y="2350008"/>
            <a:ext cx="137160" cy="137160"/>
          </a:xfrm>
          <a:prstGeom prst="ellipse">
            <a:avLst/>
          </a:prstGeom>
          <a:solidFill>
            <a:srgbClr val="F1605A"/>
          </a:solidFill>
          <a:ln/>
        </p:spPr>
      </p:sp>
      <p:sp>
        <p:nvSpPr>
          <p:cNvPr id="8" name="Shape 6"/>
          <p:cNvSpPr/>
          <p:nvPr/>
        </p:nvSpPr>
        <p:spPr>
          <a:xfrm>
            <a:off x="7808976" y="2350008"/>
            <a:ext cx="137160" cy="137160"/>
          </a:xfrm>
          <a:prstGeom prst="ellipse">
            <a:avLst/>
          </a:prstGeom>
          <a:solidFill>
            <a:srgbClr val="FEC029"/>
          </a:solidFill>
          <a:ln/>
        </p:spPr>
      </p:sp>
      <p:sp>
        <p:nvSpPr>
          <p:cNvPr id="9" name="Shape 7"/>
          <p:cNvSpPr/>
          <p:nvPr/>
        </p:nvSpPr>
        <p:spPr>
          <a:xfrm>
            <a:off x="8010144" y="235000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62672" y="2724912"/>
            <a:ext cx="34655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b, c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Reading, Writing &amp; Assignment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</a:t>
            </a:r>
            <a:pPr algn="l" indent="0" marL="0">
              <a:buNone/>
            </a:pPr>
            <a:r>
              <a:rPr lang="en-US" sz="32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&lt;expression list&gt;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&lt;expression list&gt; is a sequence of expressions separated by commas.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expressions are evaluated in order, and their results are printed to the screen.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06640" y="1965960"/>
            <a:ext cx="3977640" cy="2194560"/>
          </a:xfrm>
          <a:prstGeom prst="roundRect">
            <a:avLst>
              <a:gd name="adj" fmla="val 3750"/>
            </a:avLst>
          </a:prstGeom>
          <a:solidFill>
            <a:srgbClr val="0E1626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06640" y="2350008"/>
            <a:ext cx="3977640" cy="0"/>
          </a:xfrm>
          <a:prstGeom prst="line">
            <a:avLst/>
          </a:prstGeom>
          <a:noFill/>
          <a:ln w="12700">
            <a:solidFill>
              <a:srgbClr val="1F2C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07808" y="2121408"/>
            <a:ext cx="137160" cy="137160"/>
          </a:xfrm>
          <a:prstGeom prst="ellipse">
            <a:avLst/>
          </a:prstGeom>
          <a:solidFill>
            <a:srgbClr val="F1605A"/>
          </a:solidFill>
          <a:ln/>
        </p:spPr>
      </p:sp>
      <p:sp>
        <p:nvSpPr>
          <p:cNvPr id="8" name="Shape 6"/>
          <p:cNvSpPr/>
          <p:nvPr/>
        </p:nvSpPr>
        <p:spPr>
          <a:xfrm>
            <a:off x="7808976" y="2121408"/>
            <a:ext cx="137160" cy="137160"/>
          </a:xfrm>
          <a:prstGeom prst="ellipse">
            <a:avLst/>
          </a:prstGeom>
          <a:solidFill>
            <a:srgbClr val="FEC029"/>
          </a:solidFill>
          <a:ln/>
        </p:spPr>
      </p:sp>
      <p:sp>
        <p:nvSpPr>
          <p:cNvPr id="9" name="Shape 7"/>
          <p:cNvSpPr/>
          <p:nvPr/>
        </p:nvSpPr>
        <p:spPr>
          <a:xfrm>
            <a:off x="8010144" y="212140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62672" y="2496312"/>
            <a:ext cx="346557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 + b = '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 + b</a:t>
            </a:r>
            <a:endParaRPr lang="en-US" sz="14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7EC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if a = 3 and b = 4:</a:t>
            </a:r>
            <a:endParaRPr lang="en-US" sz="14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7EC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+ b = 7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Reading, Writing &amp; Assignment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buNone/>
            </a:pPr>
            <a:r>
              <a:rPr lang="en-US" sz="26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</a:t>
            </a:r>
            <a:pPr algn="l"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Instruction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&lt;variable&gt; ← &lt;expression&gt;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expression is evaluated first, and the resulting value is then stored in the variable.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workhorse instruction behind every calculation in a pseudocode algorithm.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06640" y="1965960"/>
            <a:ext cx="3977640" cy="2194560"/>
          </a:xfrm>
          <a:prstGeom prst="roundRect">
            <a:avLst>
              <a:gd name="adj" fmla="val 3750"/>
            </a:avLst>
          </a:prstGeom>
          <a:solidFill>
            <a:srgbClr val="0E1626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06640" y="2350008"/>
            <a:ext cx="3977640" cy="0"/>
          </a:xfrm>
          <a:prstGeom prst="line">
            <a:avLst/>
          </a:prstGeom>
          <a:noFill/>
          <a:ln w="12700">
            <a:solidFill>
              <a:srgbClr val="1F2C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07808" y="2121408"/>
            <a:ext cx="137160" cy="137160"/>
          </a:xfrm>
          <a:prstGeom prst="ellipse">
            <a:avLst/>
          </a:prstGeom>
          <a:solidFill>
            <a:srgbClr val="F1605A"/>
          </a:solidFill>
          <a:ln/>
        </p:spPr>
      </p:sp>
      <p:sp>
        <p:nvSpPr>
          <p:cNvPr id="8" name="Shape 6"/>
          <p:cNvSpPr/>
          <p:nvPr/>
        </p:nvSpPr>
        <p:spPr>
          <a:xfrm>
            <a:off x="7808976" y="2121408"/>
            <a:ext cx="137160" cy="137160"/>
          </a:xfrm>
          <a:prstGeom prst="ellipse">
            <a:avLst/>
          </a:prstGeom>
          <a:solidFill>
            <a:srgbClr val="FEC029"/>
          </a:solidFill>
          <a:ln/>
        </p:spPr>
      </p:sp>
      <p:sp>
        <p:nvSpPr>
          <p:cNvPr id="9" name="Shape 7"/>
          <p:cNvSpPr/>
          <p:nvPr/>
        </p:nvSpPr>
        <p:spPr>
          <a:xfrm>
            <a:off x="8010144" y="212140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62672" y="2496312"/>
            <a:ext cx="346557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+ 1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Reading, Writing &amp; Assignment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B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MAKING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Alternative </a:t>
            </a:r>
            <a:pPr algn="l" indent="0" marL="0">
              <a:buNone/>
            </a:pPr>
            <a:r>
              <a:rPr lang="en-US" sz="32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4937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order: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&lt;condition&gt;.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is true, execute &lt;instructions1&gt;, then move on to the next instruction.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is false, execute &lt;instructions2&gt; — when an else branch exists — then move on to the next instruction.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89320" y="1737360"/>
            <a:ext cx="5394960" cy="2560320"/>
          </a:xfrm>
          <a:prstGeom prst="roundRect">
            <a:avLst>
              <a:gd name="adj" fmla="val 3214"/>
            </a:avLst>
          </a:prstGeom>
          <a:solidFill>
            <a:srgbClr val="0E1626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89320" y="2121408"/>
            <a:ext cx="5394960" cy="0"/>
          </a:xfrm>
          <a:prstGeom prst="line">
            <a:avLst/>
          </a:prstGeom>
          <a:noFill/>
          <a:ln w="12700">
            <a:solidFill>
              <a:srgbClr val="1F2C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90488" y="1892808"/>
            <a:ext cx="137160" cy="137160"/>
          </a:xfrm>
          <a:prstGeom prst="ellipse">
            <a:avLst/>
          </a:prstGeom>
          <a:solidFill>
            <a:srgbClr val="F1605A"/>
          </a:solidFill>
          <a:ln/>
        </p:spPr>
      </p:sp>
      <p:sp>
        <p:nvSpPr>
          <p:cNvPr id="8" name="Shape 6"/>
          <p:cNvSpPr/>
          <p:nvPr/>
        </p:nvSpPr>
        <p:spPr>
          <a:xfrm>
            <a:off x="6391656" y="1892808"/>
            <a:ext cx="137160" cy="137160"/>
          </a:xfrm>
          <a:prstGeom prst="ellipse">
            <a:avLst/>
          </a:prstGeom>
          <a:solidFill>
            <a:srgbClr val="FEC029"/>
          </a:solidFill>
          <a:ln/>
        </p:spPr>
      </p:sp>
      <p:sp>
        <p:nvSpPr>
          <p:cNvPr id="9" name="Shape 7"/>
          <p:cNvSpPr/>
          <p:nvPr/>
        </p:nvSpPr>
        <p:spPr>
          <a:xfrm>
            <a:off x="6592824" y="189280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45352" y="2267712"/>
            <a:ext cx="488289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&lt;condition&gt;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13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&lt;instructions1&gt;</a:t>
            </a:r>
            <a:endParaRPr lang="en-US" sz="13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3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&lt;instructions2&gt;</a:t>
            </a:r>
            <a:endParaRPr lang="en-US" sz="13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└■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89320" y="443484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0E1626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89320" y="4818888"/>
            <a:ext cx="5394960" cy="0"/>
          </a:xfrm>
          <a:prstGeom prst="line">
            <a:avLst/>
          </a:prstGeom>
          <a:noFill/>
          <a:ln w="12700">
            <a:solidFill>
              <a:srgbClr val="1F2C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0488" y="4590288"/>
            <a:ext cx="137160" cy="137160"/>
          </a:xfrm>
          <a:prstGeom prst="ellipse">
            <a:avLst/>
          </a:prstGeom>
          <a:solidFill>
            <a:srgbClr val="F1605A"/>
          </a:solidFill>
          <a:ln/>
        </p:spPr>
      </p:sp>
      <p:sp>
        <p:nvSpPr>
          <p:cNvPr id="14" name="Shape 12"/>
          <p:cNvSpPr/>
          <p:nvPr/>
        </p:nvSpPr>
        <p:spPr>
          <a:xfrm>
            <a:off x="6391656" y="4590288"/>
            <a:ext cx="137160" cy="137160"/>
          </a:xfrm>
          <a:prstGeom prst="ellipse">
            <a:avLst/>
          </a:prstGeom>
          <a:solidFill>
            <a:srgbClr val="FEC029"/>
          </a:solidFill>
          <a:ln/>
        </p:spPr>
      </p:sp>
      <p:sp>
        <p:nvSpPr>
          <p:cNvPr id="15" name="Shape 13"/>
          <p:cNvSpPr/>
          <p:nvPr/>
        </p:nvSpPr>
        <p:spPr>
          <a:xfrm>
            <a:off x="6592824" y="459028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45352" y="4965192"/>
            <a:ext cx="48828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&lt;condition&gt;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13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&lt;instructions1&gt;</a:t>
            </a:r>
            <a:endParaRPr lang="en-US" sz="13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└■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Pseudocode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35528" y="822960"/>
            <a:ext cx="5120640" cy="2651760"/>
          </a:xfrm>
          <a:prstGeom prst="ellipse">
            <a:avLst/>
          </a:prstGeom>
          <a:solidFill>
            <a:srgbClr val="F6C453">
              <a:alpha val="1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Structures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repeat a sequence of instructions.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8904" y="3977640"/>
            <a:ext cx="2468880" cy="1508760"/>
          </a:xfrm>
          <a:prstGeom prst="roundRect">
            <a:avLst>
              <a:gd name="adj" fmla="val 6061"/>
            </a:avLst>
          </a:prstGeom>
          <a:solidFill>
            <a:srgbClr val="141F32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6064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B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6064" y="4754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number of steps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17240" y="3977640"/>
            <a:ext cx="2468880" cy="1508760"/>
          </a:xfrm>
          <a:prstGeom prst="roundRect">
            <a:avLst>
              <a:gd name="adj" fmla="val 6061"/>
            </a:avLst>
          </a:prstGeom>
          <a:solidFill>
            <a:srgbClr val="141F32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4400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B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54400" y="4754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steps, initial test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05576" y="3977640"/>
            <a:ext cx="2468880" cy="1508760"/>
          </a:xfrm>
          <a:prstGeom prst="roundRect">
            <a:avLst>
              <a:gd name="adj" fmla="val 6061"/>
            </a:avLst>
          </a:prstGeom>
          <a:solidFill>
            <a:srgbClr val="141F32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42736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B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DO...WHILE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42736" y="4754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steps, final test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893912" y="3977640"/>
            <a:ext cx="2468880" cy="1508760"/>
          </a:xfrm>
          <a:prstGeom prst="roundRect">
            <a:avLst>
              <a:gd name="adj" fmla="val 6061"/>
            </a:avLst>
          </a:prstGeom>
          <a:solidFill>
            <a:srgbClr val="141F32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31072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B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REPEAT...UNTIL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031072" y="4754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steps, final test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STRUCTURES — KNOWN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buNone/>
            </a:pPr>
            <a:r>
              <a:rPr lang="en-US" sz="32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pPr algn="l"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0E1626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75688"/>
            <a:ext cx="5120640" cy="0"/>
          </a:xfrm>
          <a:prstGeom prst="line">
            <a:avLst/>
          </a:prstGeom>
          <a:noFill/>
          <a:ln w="12700">
            <a:solidFill>
              <a:srgbClr val="1F2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1847088"/>
            <a:ext cx="137160" cy="137160"/>
          </a:xfrm>
          <a:prstGeom prst="ellipse">
            <a:avLst/>
          </a:prstGeom>
          <a:solidFill>
            <a:srgbClr val="F1605A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847088"/>
            <a:ext cx="137160" cy="137160"/>
          </a:xfrm>
          <a:prstGeom prst="ellipse">
            <a:avLst/>
          </a:prstGeom>
          <a:solidFill>
            <a:srgbClr val="FEC029"/>
          </a:solidFill>
          <a:ln/>
        </p:spPr>
      </p:sp>
      <p:sp>
        <p:nvSpPr>
          <p:cNvPr id="8" name="Shape 6"/>
          <p:cNvSpPr/>
          <p:nvPr/>
        </p:nvSpPr>
        <p:spPr>
          <a:xfrm>
            <a:off x="1426464" y="184708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78992" y="2221992"/>
            <a:ext cx="460857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&lt;var&gt; ← &lt;start&gt;, &lt;end&gt;, &lt;step&gt;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2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&lt;instructions&gt;</a:t>
            </a:r>
            <a:endParaRPr lang="en-US" sz="12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└■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03320"/>
            <a:ext cx="51206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start, end and step are expressions that evaluate to (usually) integers; step is 1 or -1, and defaults to 1 when omitted.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variable takes successive values — increasing if step = 1, decreasing if step = -1 — from start to end, running the instructions each time.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step = 1 and start &gt; end (or step = -1 and start &lt; end), the instructions never run.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B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— sum &amp; product of the first n natural numbers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2103120"/>
            <a:ext cx="5212080" cy="3017520"/>
          </a:xfrm>
          <a:prstGeom prst="roundRect">
            <a:avLst>
              <a:gd name="adj" fmla="val 2727"/>
            </a:avLst>
          </a:prstGeom>
          <a:solidFill>
            <a:srgbClr val="0E1626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2487168"/>
            <a:ext cx="5212080" cy="0"/>
          </a:xfrm>
          <a:prstGeom prst="line">
            <a:avLst/>
          </a:prstGeom>
          <a:noFill/>
          <a:ln w="12700">
            <a:solidFill>
              <a:srgbClr val="1F2C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73368" y="2258568"/>
            <a:ext cx="137160" cy="137160"/>
          </a:xfrm>
          <a:prstGeom prst="ellipse">
            <a:avLst/>
          </a:prstGeom>
          <a:solidFill>
            <a:srgbClr val="F160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574536" y="2258568"/>
            <a:ext cx="137160" cy="137160"/>
          </a:xfrm>
          <a:prstGeom prst="ellipse">
            <a:avLst/>
          </a:prstGeom>
          <a:solidFill>
            <a:srgbClr val="FEC029"/>
          </a:solidFill>
          <a:ln/>
        </p:spPr>
      </p:sp>
      <p:sp>
        <p:nvSpPr>
          <p:cNvPr id="16" name="Shape 14"/>
          <p:cNvSpPr/>
          <p:nvPr/>
        </p:nvSpPr>
        <p:spPr>
          <a:xfrm>
            <a:off x="6775704" y="225856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28232" y="2633472"/>
            <a:ext cx="470001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0; P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13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← 1, n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3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← S + i</a:t>
            </a:r>
            <a:endParaRPr lang="en-US" sz="13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← P * i</a:t>
            </a:r>
            <a:endParaRPr lang="en-US" sz="13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└■</a:t>
            </a:r>
            <a:endParaRPr lang="en-US" sz="13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S,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'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Pseudocode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STRUCTURES — INITIAL TEST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buNone/>
            </a:pPr>
            <a:r>
              <a:rPr lang="en-US" sz="32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</a:t>
            </a:r>
            <a:pPr algn="l"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0E1626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75688"/>
            <a:ext cx="5120640" cy="0"/>
          </a:xfrm>
          <a:prstGeom prst="line">
            <a:avLst/>
          </a:prstGeom>
          <a:noFill/>
          <a:ln w="12700">
            <a:solidFill>
              <a:srgbClr val="1F2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1847088"/>
            <a:ext cx="137160" cy="137160"/>
          </a:xfrm>
          <a:prstGeom prst="ellipse">
            <a:avLst/>
          </a:prstGeom>
          <a:solidFill>
            <a:srgbClr val="F1605A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847088"/>
            <a:ext cx="137160" cy="137160"/>
          </a:xfrm>
          <a:prstGeom prst="ellipse">
            <a:avLst/>
          </a:prstGeom>
          <a:solidFill>
            <a:srgbClr val="FEC029"/>
          </a:solidFill>
          <a:ln/>
        </p:spPr>
      </p:sp>
      <p:sp>
        <p:nvSpPr>
          <p:cNvPr id="8" name="Shape 6"/>
          <p:cNvSpPr/>
          <p:nvPr/>
        </p:nvSpPr>
        <p:spPr>
          <a:xfrm>
            <a:off x="1426464" y="184708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78992" y="2221992"/>
            <a:ext cx="460857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&lt;condition&gt;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&lt;instructions&gt;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└■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03320"/>
            <a:ext cx="51206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&lt;condition&gt;.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true, run the instructions, then go back to step 1.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false, move on to the next instruction in the algorithm.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Important: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condition is false from the start, the instructions never run.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B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— sum of the digits of a natural number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2103120"/>
            <a:ext cx="5212080" cy="3246120"/>
          </a:xfrm>
          <a:prstGeom prst="roundRect">
            <a:avLst>
              <a:gd name="adj" fmla="val 2535"/>
            </a:avLst>
          </a:prstGeom>
          <a:solidFill>
            <a:srgbClr val="0E1626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2487168"/>
            <a:ext cx="5212080" cy="0"/>
          </a:xfrm>
          <a:prstGeom prst="line">
            <a:avLst/>
          </a:prstGeom>
          <a:noFill/>
          <a:ln w="12700">
            <a:solidFill>
              <a:srgbClr val="1F2C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73368" y="2258568"/>
            <a:ext cx="137160" cy="137160"/>
          </a:xfrm>
          <a:prstGeom prst="ellipse">
            <a:avLst/>
          </a:prstGeom>
          <a:solidFill>
            <a:srgbClr val="F160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574536" y="2258568"/>
            <a:ext cx="137160" cy="137160"/>
          </a:xfrm>
          <a:prstGeom prst="ellipse">
            <a:avLst/>
          </a:prstGeom>
          <a:solidFill>
            <a:srgbClr val="FEC029"/>
          </a:solidFill>
          <a:ln/>
        </p:spPr>
      </p:sp>
      <p:sp>
        <p:nvSpPr>
          <p:cNvPr id="16" name="Shape 14"/>
          <p:cNvSpPr/>
          <p:nvPr/>
        </p:nvSpPr>
        <p:spPr>
          <a:xfrm>
            <a:off x="6775704" y="225856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28232" y="2633472"/>
            <a:ext cx="4700016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≠ 0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← S + n % 10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← [n / 10]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└■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Pseudocode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STRUCTURES — FINAL TEST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buNone/>
            </a:pPr>
            <a:r>
              <a:rPr lang="en-US" sz="32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DO...WHILE</a:t>
            </a:r>
            <a:pPr algn="l"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0E1626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75688"/>
            <a:ext cx="5120640" cy="0"/>
          </a:xfrm>
          <a:prstGeom prst="line">
            <a:avLst/>
          </a:prstGeom>
          <a:noFill/>
          <a:ln w="12700">
            <a:solidFill>
              <a:srgbClr val="1F2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1847088"/>
            <a:ext cx="137160" cy="137160"/>
          </a:xfrm>
          <a:prstGeom prst="ellipse">
            <a:avLst/>
          </a:prstGeom>
          <a:solidFill>
            <a:srgbClr val="F1605A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847088"/>
            <a:ext cx="137160" cy="137160"/>
          </a:xfrm>
          <a:prstGeom prst="ellipse">
            <a:avLst/>
          </a:prstGeom>
          <a:solidFill>
            <a:srgbClr val="FEC029"/>
          </a:solidFill>
          <a:ln/>
        </p:spPr>
      </p:sp>
      <p:sp>
        <p:nvSpPr>
          <p:cNvPr id="8" name="Shape 6"/>
          <p:cNvSpPr/>
          <p:nvPr/>
        </p:nvSpPr>
        <p:spPr>
          <a:xfrm>
            <a:off x="1426464" y="184708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78992" y="2221992"/>
            <a:ext cx="460857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&lt;instructions&gt;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&lt;condition&gt;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03320"/>
            <a:ext cx="51206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instructions.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&lt;condition&gt;.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true, go back to step 1. If false, move on to the next instruction.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Important: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if the condition is false from the start, the instructions have already run once.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B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— number of digits of a natural number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2103120"/>
            <a:ext cx="5212080" cy="3246120"/>
          </a:xfrm>
          <a:prstGeom prst="roundRect">
            <a:avLst>
              <a:gd name="adj" fmla="val 2535"/>
            </a:avLst>
          </a:prstGeom>
          <a:solidFill>
            <a:srgbClr val="0E1626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2487168"/>
            <a:ext cx="5212080" cy="0"/>
          </a:xfrm>
          <a:prstGeom prst="line">
            <a:avLst/>
          </a:prstGeom>
          <a:noFill/>
          <a:ln w="12700">
            <a:solidFill>
              <a:srgbClr val="1F2C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73368" y="2258568"/>
            <a:ext cx="137160" cy="137160"/>
          </a:xfrm>
          <a:prstGeom prst="ellipse">
            <a:avLst/>
          </a:prstGeom>
          <a:solidFill>
            <a:srgbClr val="F160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574536" y="2258568"/>
            <a:ext cx="137160" cy="137160"/>
          </a:xfrm>
          <a:prstGeom prst="ellipse">
            <a:avLst/>
          </a:prstGeom>
          <a:solidFill>
            <a:srgbClr val="FEC029"/>
          </a:solidFill>
          <a:ln/>
        </p:spPr>
      </p:sp>
      <p:sp>
        <p:nvSpPr>
          <p:cNvPr id="16" name="Shape 14"/>
          <p:cNvSpPr/>
          <p:nvPr/>
        </p:nvSpPr>
        <p:spPr>
          <a:xfrm>
            <a:off x="6775704" y="225856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28232" y="2633472"/>
            <a:ext cx="4700016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cnt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cnt ← cnt + 1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← [n / 10]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≠ 0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cnt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Pseudocode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STRUCTURES — FINAL TEST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buNone/>
            </a:pPr>
            <a:r>
              <a:rPr lang="en-US" sz="28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REPEAT...UNTIL</a:t>
            </a:r>
            <a:pPr algn="l"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0E1626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12848"/>
            <a:ext cx="5120640" cy="0"/>
          </a:xfrm>
          <a:prstGeom prst="line">
            <a:avLst/>
          </a:prstGeom>
          <a:noFill/>
          <a:ln w="12700">
            <a:solidFill>
              <a:srgbClr val="1F2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1984248"/>
            <a:ext cx="137160" cy="137160"/>
          </a:xfrm>
          <a:prstGeom prst="ellipse">
            <a:avLst/>
          </a:prstGeom>
          <a:solidFill>
            <a:srgbClr val="F1605A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84248"/>
            <a:ext cx="137160" cy="137160"/>
          </a:xfrm>
          <a:prstGeom prst="ellipse">
            <a:avLst/>
          </a:prstGeom>
          <a:solidFill>
            <a:srgbClr val="FEC029"/>
          </a:solidFill>
          <a:ln/>
        </p:spPr>
      </p:sp>
      <p:sp>
        <p:nvSpPr>
          <p:cNvPr id="8" name="Shape 6"/>
          <p:cNvSpPr/>
          <p:nvPr/>
        </p:nvSpPr>
        <p:spPr>
          <a:xfrm>
            <a:off x="1426464" y="198424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78992" y="2359152"/>
            <a:ext cx="460857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&lt;instructions&gt;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until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&lt;condition&gt;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84048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instructions.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&lt;condition&gt;.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false, go back to step 1. If true, move on to the next instruction.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Important: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if the condition is true from the start, the instructions have already run once.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B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— number of digits of a natural number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2240280"/>
            <a:ext cx="5212080" cy="3246120"/>
          </a:xfrm>
          <a:prstGeom prst="roundRect">
            <a:avLst>
              <a:gd name="adj" fmla="val 2535"/>
            </a:avLst>
          </a:prstGeom>
          <a:solidFill>
            <a:srgbClr val="0E1626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2624328"/>
            <a:ext cx="5212080" cy="0"/>
          </a:xfrm>
          <a:prstGeom prst="line">
            <a:avLst/>
          </a:prstGeom>
          <a:noFill/>
          <a:ln w="12700">
            <a:solidFill>
              <a:srgbClr val="1F2C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73368" y="2395728"/>
            <a:ext cx="137160" cy="137160"/>
          </a:xfrm>
          <a:prstGeom prst="ellipse">
            <a:avLst/>
          </a:prstGeom>
          <a:solidFill>
            <a:srgbClr val="F160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574536" y="2395728"/>
            <a:ext cx="137160" cy="137160"/>
          </a:xfrm>
          <a:prstGeom prst="ellipse">
            <a:avLst/>
          </a:prstGeom>
          <a:solidFill>
            <a:srgbClr val="FEC029"/>
          </a:solidFill>
          <a:ln/>
        </p:spPr>
      </p:sp>
      <p:sp>
        <p:nvSpPr>
          <p:cNvPr id="16" name="Shape 14"/>
          <p:cNvSpPr/>
          <p:nvPr/>
        </p:nvSpPr>
        <p:spPr>
          <a:xfrm>
            <a:off x="6775704" y="239572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28232" y="2770632"/>
            <a:ext cx="4700016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cnt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cnt ← cnt + 1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← [n / 10]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until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= 0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cnt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Pseudocode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STRUCTURES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9611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Equivalence of </a:t>
            </a:r>
            <a:pPr algn="l" indent="0" marL="0">
              <a:buNone/>
            </a:pPr>
            <a:r>
              <a:rPr lang="en-US" sz="28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Structures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6583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exercises give you an algorithm and ask for an equivalent one that uses a different repetitive structure.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algorithms are equivalent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if, for every set of valid input data, they produce exactly the same results.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slides walk through the standard transformation rules between FOR, WHILE, DO...WHILE, and REPEAT...UNTIL.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18120" y="196596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141F32"/>
          </a:solidFill>
          <a:ln w="12700">
            <a:solidFill>
              <a:srgbClr val="223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31352" y="2542032"/>
            <a:ext cx="2139696" cy="621792"/>
          </a:xfrm>
          <a:prstGeom prst="roundRect">
            <a:avLst>
              <a:gd name="adj" fmla="val 11765"/>
            </a:avLst>
          </a:prstGeom>
          <a:solidFill>
            <a:srgbClr val="1B2A46"/>
          </a:solidFill>
          <a:ln w="19050">
            <a:solidFill>
              <a:srgbClr val="4FB6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31352" y="2542032"/>
            <a:ext cx="2139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0" y="3163824"/>
            <a:ext cx="0" cy="310896"/>
          </a:xfrm>
          <a:prstGeom prst="line">
            <a:avLst/>
          </a:prstGeom>
          <a:noFill/>
          <a:ln w="19050">
            <a:solidFill>
              <a:srgbClr val="3A4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88706" y="3474720"/>
            <a:ext cx="2424989" cy="914400"/>
          </a:xfrm>
          <a:prstGeom prst="diamond">
            <a:avLst/>
          </a:prstGeom>
          <a:solidFill>
            <a:srgbClr val="241B2E"/>
          </a:solidFill>
          <a:ln w="19050">
            <a:solidFill>
              <a:srgbClr val="F6C45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8706" y="3474720"/>
            <a:ext cx="24249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0" y="4389120"/>
            <a:ext cx="0" cy="310896"/>
          </a:xfrm>
          <a:prstGeom prst="line">
            <a:avLst/>
          </a:prstGeom>
          <a:noFill/>
          <a:ln w="19050">
            <a:solidFill>
              <a:srgbClr val="3A4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31352" y="4700016"/>
            <a:ext cx="2139696" cy="621792"/>
          </a:xfrm>
          <a:prstGeom prst="roundRect">
            <a:avLst>
              <a:gd name="adj" fmla="val 11765"/>
            </a:avLst>
          </a:prstGeom>
          <a:solidFill>
            <a:srgbClr val="142A22"/>
          </a:solidFill>
          <a:ln w="19050">
            <a:solidFill>
              <a:srgbClr val="27C9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31352" y="4700016"/>
            <a:ext cx="2139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Pseudocode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EQUIVALENCE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pPr algn="l"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buNone/>
            </a:pPr>
            <a:r>
              <a:rPr lang="en-US" sz="2600" b="1" dirty="0">
                <a:solidFill>
                  <a:srgbClr val="4FB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600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B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0E1626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50008"/>
            <a:ext cx="5120640" cy="0"/>
          </a:xfrm>
          <a:prstGeom prst="line">
            <a:avLst/>
          </a:prstGeom>
          <a:noFill/>
          <a:ln w="12700">
            <a:solidFill>
              <a:srgbClr val="1F2C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121408"/>
            <a:ext cx="137160" cy="137160"/>
          </a:xfrm>
          <a:prstGeom prst="ellipse">
            <a:avLst/>
          </a:prstGeom>
          <a:solidFill>
            <a:srgbClr val="F1605A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2121408"/>
            <a:ext cx="137160" cy="137160"/>
          </a:xfrm>
          <a:prstGeom prst="ellipse">
            <a:avLst/>
          </a:prstGeom>
          <a:solidFill>
            <a:srgbClr val="FEC029"/>
          </a:solidFill>
          <a:ln/>
        </p:spPr>
      </p:sp>
      <p:sp>
        <p:nvSpPr>
          <p:cNvPr id="10" name="Shape 8"/>
          <p:cNvSpPr/>
          <p:nvPr/>
        </p:nvSpPr>
        <p:spPr>
          <a:xfrm>
            <a:off x="1426464" y="212140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78992" y="2496312"/>
            <a:ext cx="460857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← a, b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&lt;instructions&gt;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965960"/>
            <a:ext cx="5212080" cy="2560320"/>
          </a:xfrm>
          <a:prstGeom prst="roundRect">
            <a:avLst>
              <a:gd name="adj" fmla="val 3214"/>
            </a:avLst>
          </a:prstGeom>
          <a:solidFill>
            <a:srgbClr val="0E1626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2350008"/>
            <a:ext cx="5212080" cy="0"/>
          </a:xfrm>
          <a:prstGeom prst="line">
            <a:avLst/>
          </a:prstGeom>
          <a:noFill/>
          <a:ln w="12700">
            <a:solidFill>
              <a:srgbClr val="1F2C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73368" y="2121408"/>
            <a:ext cx="137160" cy="137160"/>
          </a:xfrm>
          <a:prstGeom prst="ellipse">
            <a:avLst/>
          </a:prstGeom>
          <a:solidFill>
            <a:srgbClr val="F160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574536" y="2121408"/>
            <a:ext cx="137160" cy="137160"/>
          </a:xfrm>
          <a:prstGeom prst="ellipse">
            <a:avLst/>
          </a:prstGeom>
          <a:solidFill>
            <a:srgbClr val="FEC029"/>
          </a:solidFill>
          <a:ln/>
        </p:spPr>
      </p:sp>
      <p:sp>
        <p:nvSpPr>
          <p:cNvPr id="16" name="Shape 14"/>
          <p:cNvSpPr/>
          <p:nvPr/>
        </p:nvSpPr>
        <p:spPr>
          <a:xfrm>
            <a:off x="6775704" y="212140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28232" y="2496312"/>
            <a:ext cx="470001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≤ b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&lt;instructions&gt;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← i + 1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└■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Pseudocode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EQUIVALENCE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pPr algn="l"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buNone/>
            </a:pPr>
            <a:r>
              <a:rPr lang="en-US" sz="2600" b="1" dirty="0">
                <a:solidFill>
                  <a:srgbClr val="4FB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DO...WHILE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600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B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0E1626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50008"/>
            <a:ext cx="5120640" cy="0"/>
          </a:xfrm>
          <a:prstGeom prst="line">
            <a:avLst/>
          </a:prstGeom>
          <a:noFill/>
          <a:ln w="12700">
            <a:solidFill>
              <a:srgbClr val="1F2C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121408"/>
            <a:ext cx="137160" cy="137160"/>
          </a:xfrm>
          <a:prstGeom prst="ellipse">
            <a:avLst/>
          </a:prstGeom>
          <a:solidFill>
            <a:srgbClr val="F1605A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2121408"/>
            <a:ext cx="137160" cy="137160"/>
          </a:xfrm>
          <a:prstGeom prst="ellipse">
            <a:avLst/>
          </a:prstGeom>
          <a:solidFill>
            <a:srgbClr val="FEC029"/>
          </a:solidFill>
          <a:ln/>
        </p:spPr>
      </p:sp>
      <p:sp>
        <p:nvSpPr>
          <p:cNvPr id="10" name="Shape 8"/>
          <p:cNvSpPr/>
          <p:nvPr/>
        </p:nvSpPr>
        <p:spPr>
          <a:xfrm>
            <a:off x="1426464" y="212140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78992" y="2496312"/>
            <a:ext cx="460857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← a, b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&lt;instructions&gt;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965960"/>
            <a:ext cx="5212080" cy="3246120"/>
          </a:xfrm>
          <a:prstGeom prst="roundRect">
            <a:avLst>
              <a:gd name="adj" fmla="val 2535"/>
            </a:avLst>
          </a:prstGeom>
          <a:solidFill>
            <a:srgbClr val="0E1626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2350008"/>
            <a:ext cx="5212080" cy="0"/>
          </a:xfrm>
          <a:prstGeom prst="line">
            <a:avLst/>
          </a:prstGeom>
          <a:noFill/>
          <a:ln w="12700">
            <a:solidFill>
              <a:srgbClr val="1F2C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73368" y="2121408"/>
            <a:ext cx="137160" cy="137160"/>
          </a:xfrm>
          <a:prstGeom prst="ellipse">
            <a:avLst/>
          </a:prstGeom>
          <a:solidFill>
            <a:srgbClr val="F160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574536" y="2121408"/>
            <a:ext cx="137160" cy="137160"/>
          </a:xfrm>
          <a:prstGeom prst="ellipse">
            <a:avLst/>
          </a:prstGeom>
          <a:solidFill>
            <a:srgbClr val="FEC029"/>
          </a:solidFill>
          <a:ln/>
        </p:spPr>
      </p:sp>
      <p:sp>
        <p:nvSpPr>
          <p:cNvPr id="16" name="Shape 14"/>
          <p:cNvSpPr/>
          <p:nvPr/>
        </p:nvSpPr>
        <p:spPr>
          <a:xfrm>
            <a:off x="6775704" y="212140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28232" y="2496312"/>
            <a:ext cx="4700016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≤ b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│┌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&lt;instructions&gt;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← i + 1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│└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≤ b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└■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Pseudocode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EQUIVALENCE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pPr algn="l"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buNone/>
            </a:pPr>
            <a:r>
              <a:rPr lang="en-US" sz="2600" b="1" dirty="0">
                <a:solidFill>
                  <a:srgbClr val="4FB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REPEAT...UNTIL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600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B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0E1626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50008"/>
            <a:ext cx="5120640" cy="0"/>
          </a:xfrm>
          <a:prstGeom prst="line">
            <a:avLst/>
          </a:prstGeom>
          <a:noFill/>
          <a:ln w="12700">
            <a:solidFill>
              <a:srgbClr val="1F2C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121408"/>
            <a:ext cx="137160" cy="137160"/>
          </a:xfrm>
          <a:prstGeom prst="ellipse">
            <a:avLst/>
          </a:prstGeom>
          <a:solidFill>
            <a:srgbClr val="F1605A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2121408"/>
            <a:ext cx="137160" cy="137160"/>
          </a:xfrm>
          <a:prstGeom prst="ellipse">
            <a:avLst/>
          </a:prstGeom>
          <a:solidFill>
            <a:srgbClr val="FEC029"/>
          </a:solidFill>
          <a:ln/>
        </p:spPr>
      </p:sp>
      <p:sp>
        <p:nvSpPr>
          <p:cNvPr id="10" name="Shape 8"/>
          <p:cNvSpPr/>
          <p:nvPr/>
        </p:nvSpPr>
        <p:spPr>
          <a:xfrm>
            <a:off x="1426464" y="212140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78992" y="2496312"/>
            <a:ext cx="460857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← a, b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&lt;instructions&gt;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965960"/>
            <a:ext cx="5212080" cy="3246120"/>
          </a:xfrm>
          <a:prstGeom prst="roundRect">
            <a:avLst>
              <a:gd name="adj" fmla="val 2535"/>
            </a:avLst>
          </a:prstGeom>
          <a:solidFill>
            <a:srgbClr val="0E1626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2350008"/>
            <a:ext cx="5212080" cy="0"/>
          </a:xfrm>
          <a:prstGeom prst="line">
            <a:avLst/>
          </a:prstGeom>
          <a:noFill/>
          <a:ln w="12700">
            <a:solidFill>
              <a:srgbClr val="1F2C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73368" y="2121408"/>
            <a:ext cx="137160" cy="137160"/>
          </a:xfrm>
          <a:prstGeom prst="ellipse">
            <a:avLst/>
          </a:prstGeom>
          <a:solidFill>
            <a:srgbClr val="F160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574536" y="2121408"/>
            <a:ext cx="137160" cy="137160"/>
          </a:xfrm>
          <a:prstGeom prst="ellipse">
            <a:avLst/>
          </a:prstGeom>
          <a:solidFill>
            <a:srgbClr val="FEC029"/>
          </a:solidFill>
          <a:ln/>
        </p:spPr>
      </p:sp>
      <p:sp>
        <p:nvSpPr>
          <p:cNvPr id="16" name="Shape 14"/>
          <p:cNvSpPr/>
          <p:nvPr/>
        </p:nvSpPr>
        <p:spPr>
          <a:xfrm>
            <a:off x="6775704" y="212140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28232" y="2496312"/>
            <a:ext cx="4700016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≤ b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│┌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&lt;instructions&gt;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← i + 1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│└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until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&gt; b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└■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Pseudocode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EQUIVALENCE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</a:t>
            </a:r>
            <a:pPr algn="l"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buNone/>
            </a:pPr>
            <a:r>
              <a:rPr lang="en-US" sz="2600" b="1" dirty="0">
                <a:solidFill>
                  <a:srgbClr val="4FB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DO...WHILE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600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B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0E1626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50008"/>
            <a:ext cx="5120640" cy="0"/>
          </a:xfrm>
          <a:prstGeom prst="line">
            <a:avLst/>
          </a:prstGeom>
          <a:noFill/>
          <a:ln w="12700">
            <a:solidFill>
              <a:srgbClr val="1F2C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121408"/>
            <a:ext cx="137160" cy="137160"/>
          </a:xfrm>
          <a:prstGeom prst="ellipse">
            <a:avLst/>
          </a:prstGeom>
          <a:solidFill>
            <a:srgbClr val="F1605A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2121408"/>
            <a:ext cx="137160" cy="137160"/>
          </a:xfrm>
          <a:prstGeom prst="ellipse">
            <a:avLst/>
          </a:prstGeom>
          <a:solidFill>
            <a:srgbClr val="FEC029"/>
          </a:solidFill>
          <a:ln/>
        </p:spPr>
      </p:sp>
      <p:sp>
        <p:nvSpPr>
          <p:cNvPr id="10" name="Shape 8"/>
          <p:cNvSpPr/>
          <p:nvPr/>
        </p:nvSpPr>
        <p:spPr>
          <a:xfrm>
            <a:off x="1426464" y="212140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78992" y="2496312"/>
            <a:ext cx="460857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&lt;condition&gt;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&lt;instructions&gt;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965960"/>
            <a:ext cx="5212080" cy="2560320"/>
          </a:xfrm>
          <a:prstGeom prst="roundRect">
            <a:avLst>
              <a:gd name="adj" fmla="val 3214"/>
            </a:avLst>
          </a:prstGeom>
          <a:solidFill>
            <a:srgbClr val="0E1626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2350008"/>
            <a:ext cx="5212080" cy="0"/>
          </a:xfrm>
          <a:prstGeom prst="line">
            <a:avLst/>
          </a:prstGeom>
          <a:noFill/>
          <a:ln w="12700">
            <a:solidFill>
              <a:srgbClr val="1F2C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73368" y="2121408"/>
            <a:ext cx="137160" cy="137160"/>
          </a:xfrm>
          <a:prstGeom prst="ellipse">
            <a:avLst/>
          </a:prstGeom>
          <a:solidFill>
            <a:srgbClr val="F160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574536" y="2121408"/>
            <a:ext cx="137160" cy="137160"/>
          </a:xfrm>
          <a:prstGeom prst="ellipse">
            <a:avLst/>
          </a:prstGeom>
          <a:solidFill>
            <a:srgbClr val="FEC029"/>
          </a:solidFill>
          <a:ln/>
        </p:spPr>
      </p:sp>
      <p:sp>
        <p:nvSpPr>
          <p:cNvPr id="16" name="Shape 14"/>
          <p:cNvSpPr/>
          <p:nvPr/>
        </p:nvSpPr>
        <p:spPr>
          <a:xfrm>
            <a:off x="6775704" y="212140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28232" y="2496312"/>
            <a:ext cx="470001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&lt;condition&gt;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│┌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&lt;instructions&gt;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│└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&lt;condition&gt;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└■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Pseudocode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EQUIVALENCE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</a:t>
            </a:r>
            <a:pPr algn="l"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buNone/>
            </a:pPr>
            <a:r>
              <a:rPr lang="en-US" sz="2600" b="1" dirty="0">
                <a:solidFill>
                  <a:srgbClr val="4FB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REPEAT...UNTIL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600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B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0E1626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50008"/>
            <a:ext cx="5120640" cy="0"/>
          </a:xfrm>
          <a:prstGeom prst="line">
            <a:avLst/>
          </a:prstGeom>
          <a:noFill/>
          <a:ln w="12700">
            <a:solidFill>
              <a:srgbClr val="1F2C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121408"/>
            <a:ext cx="137160" cy="137160"/>
          </a:xfrm>
          <a:prstGeom prst="ellipse">
            <a:avLst/>
          </a:prstGeom>
          <a:solidFill>
            <a:srgbClr val="F1605A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2121408"/>
            <a:ext cx="137160" cy="137160"/>
          </a:xfrm>
          <a:prstGeom prst="ellipse">
            <a:avLst/>
          </a:prstGeom>
          <a:solidFill>
            <a:srgbClr val="FEC029"/>
          </a:solidFill>
          <a:ln/>
        </p:spPr>
      </p:sp>
      <p:sp>
        <p:nvSpPr>
          <p:cNvPr id="10" name="Shape 8"/>
          <p:cNvSpPr/>
          <p:nvPr/>
        </p:nvSpPr>
        <p:spPr>
          <a:xfrm>
            <a:off x="1426464" y="212140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78992" y="2496312"/>
            <a:ext cx="460857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&lt;condition&gt;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&lt;instructions&gt;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965960"/>
            <a:ext cx="5212080" cy="2560320"/>
          </a:xfrm>
          <a:prstGeom prst="roundRect">
            <a:avLst>
              <a:gd name="adj" fmla="val 3214"/>
            </a:avLst>
          </a:prstGeom>
          <a:solidFill>
            <a:srgbClr val="0E1626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2350008"/>
            <a:ext cx="5212080" cy="0"/>
          </a:xfrm>
          <a:prstGeom prst="line">
            <a:avLst/>
          </a:prstGeom>
          <a:noFill/>
          <a:ln w="12700">
            <a:solidFill>
              <a:srgbClr val="1F2C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73368" y="2121408"/>
            <a:ext cx="137160" cy="137160"/>
          </a:xfrm>
          <a:prstGeom prst="ellipse">
            <a:avLst/>
          </a:prstGeom>
          <a:solidFill>
            <a:srgbClr val="F160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574536" y="2121408"/>
            <a:ext cx="137160" cy="137160"/>
          </a:xfrm>
          <a:prstGeom prst="ellipse">
            <a:avLst/>
          </a:prstGeom>
          <a:solidFill>
            <a:srgbClr val="FEC029"/>
          </a:solidFill>
          <a:ln/>
        </p:spPr>
      </p:sp>
      <p:sp>
        <p:nvSpPr>
          <p:cNvPr id="16" name="Shape 14"/>
          <p:cNvSpPr/>
          <p:nvPr/>
        </p:nvSpPr>
        <p:spPr>
          <a:xfrm>
            <a:off x="6775704" y="212140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28232" y="2496312"/>
            <a:ext cx="470001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&lt;condition&gt;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│┌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&lt;instructions&gt;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│└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until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 &lt;condition&gt;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└■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Pseudocode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EQUIVALENCE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REPEAT...UNTIL</a:t>
            </a:r>
            <a:pPr algn="l"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buNone/>
            </a:pPr>
            <a:r>
              <a:rPr lang="en-US" sz="2600" b="1" dirty="0">
                <a:solidFill>
                  <a:srgbClr val="4FB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600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B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0E1626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50008"/>
            <a:ext cx="5120640" cy="0"/>
          </a:xfrm>
          <a:prstGeom prst="line">
            <a:avLst/>
          </a:prstGeom>
          <a:noFill/>
          <a:ln w="12700">
            <a:solidFill>
              <a:srgbClr val="1F2C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121408"/>
            <a:ext cx="137160" cy="137160"/>
          </a:xfrm>
          <a:prstGeom prst="ellipse">
            <a:avLst/>
          </a:prstGeom>
          <a:solidFill>
            <a:srgbClr val="F1605A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2121408"/>
            <a:ext cx="137160" cy="137160"/>
          </a:xfrm>
          <a:prstGeom prst="ellipse">
            <a:avLst/>
          </a:prstGeom>
          <a:solidFill>
            <a:srgbClr val="FEC029"/>
          </a:solidFill>
          <a:ln/>
        </p:spPr>
      </p:sp>
      <p:sp>
        <p:nvSpPr>
          <p:cNvPr id="10" name="Shape 8"/>
          <p:cNvSpPr/>
          <p:nvPr/>
        </p:nvSpPr>
        <p:spPr>
          <a:xfrm>
            <a:off x="1426464" y="212140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78992" y="2496312"/>
            <a:ext cx="460857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&lt;instructions&gt;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until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&lt;condition&gt;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965960"/>
            <a:ext cx="5212080" cy="2194560"/>
          </a:xfrm>
          <a:prstGeom prst="roundRect">
            <a:avLst>
              <a:gd name="adj" fmla="val 3750"/>
            </a:avLst>
          </a:prstGeom>
          <a:solidFill>
            <a:srgbClr val="0E1626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2350008"/>
            <a:ext cx="5212080" cy="0"/>
          </a:xfrm>
          <a:prstGeom prst="line">
            <a:avLst/>
          </a:prstGeom>
          <a:noFill/>
          <a:ln w="12700">
            <a:solidFill>
              <a:srgbClr val="1F2C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73368" y="2121408"/>
            <a:ext cx="137160" cy="137160"/>
          </a:xfrm>
          <a:prstGeom prst="ellipse">
            <a:avLst/>
          </a:prstGeom>
          <a:solidFill>
            <a:srgbClr val="F160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574536" y="2121408"/>
            <a:ext cx="137160" cy="137160"/>
          </a:xfrm>
          <a:prstGeom prst="ellipse">
            <a:avLst/>
          </a:prstGeom>
          <a:solidFill>
            <a:srgbClr val="FEC029"/>
          </a:solidFill>
          <a:ln/>
        </p:spPr>
      </p:sp>
      <p:sp>
        <p:nvSpPr>
          <p:cNvPr id="16" name="Shape 14"/>
          <p:cNvSpPr/>
          <p:nvPr/>
        </p:nvSpPr>
        <p:spPr>
          <a:xfrm>
            <a:off x="6775704" y="2121408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28232" y="2496312"/>
            <a:ext cx="470001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&lt;instructions&gt;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 &lt;condition&gt;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FB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&lt;instructions&gt;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└■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Pseudocode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52648" y="1097280"/>
            <a:ext cx="5486400" cy="3657600"/>
          </a:xfrm>
          <a:prstGeom prst="ellipse">
            <a:avLst/>
          </a:prstGeom>
          <a:solidFill>
            <a:srgbClr val="F6C453">
              <a:alpha val="1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6C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up: elementary algorithms — digit processing, divisibility, and sequence problems.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605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B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participating!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2026-09-22T20:08:54Z</dcterms:created>
  <dcterms:modified xsi:type="dcterms:W3CDTF">2026-09-22T20:08:54Z</dcterms:modified>
</cp:coreProperties>
</file>